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392" r:id="rId2"/>
    <p:sldId id="517" r:id="rId3"/>
    <p:sldId id="518" r:id="rId4"/>
    <p:sldId id="519" r:id="rId5"/>
    <p:sldId id="520" r:id="rId6"/>
    <p:sldId id="452" r:id="rId7"/>
  </p:sldIdLst>
  <p:sldSz cx="9144000" cy="6858000" type="screen4x3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019110611@office.kw.ac.kr" initials="2" lastIdx="2" clrIdx="0">
    <p:extLst>
      <p:ext uri="{19B8F6BF-5375-455C-9EA6-DF929625EA0E}">
        <p15:presenceInfo xmlns:p15="http://schemas.microsoft.com/office/powerpoint/2012/main" userId="2019110611@office.kw.ac.k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5495"/>
    <a:srgbClr val="002060"/>
    <a:srgbClr val="0F4C81"/>
    <a:srgbClr val="8FAADC"/>
    <a:srgbClr val="B4BDD0"/>
    <a:srgbClr val="D6B4D4"/>
    <a:srgbClr val="CF91C0"/>
    <a:srgbClr val="DBADD0"/>
    <a:srgbClr val="C4B9ED"/>
    <a:srgbClr val="FDA5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212" autoAdjust="0"/>
  </p:normalViewPr>
  <p:slideViewPr>
    <p:cSldViewPr snapToGrid="0">
      <p:cViewPr varScale="1">
        <p:scale>
          <a:sx n="148" d="100"/>
          <a:sy n="148" d="100"/>
        </p:scale>
        <p:origin x="2130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408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E5F9D22-4C40-4116-8CCF-7D76DA8DBD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8211B7-CC4D-4777-B07F-ABBD635F9E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5647C-87BA-4928-99E2-888AA6AF77C9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2E3D3C-A4D9-41EB-A6F5-BEE67D740D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9F453B-7615-4E02-BFC8-63D6D26C53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8D0A81-A1A0-44DB-8EAE-406ED98D80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2862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7D948-9408-430C-8242-AB07141E6E02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31E650-F57F-4401-9E1F-691387ACB8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380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1E650-F57F-4401-9E1F-691387ACB870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900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1F530-5D13-7C11-EAF5-91B625A1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DA9A14-B893-8C35-9EBE-B9F16F07F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452BDF-7CB3-6BFB-C068-9736EA76F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A20C89-8BFA-0738-0061-AB0EDF4FF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1E650-F57F-4401-9E1F-691387ACB87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013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2B0D1-52D8-7047-63D3-CA72BB597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81D112-AE10-ED80-934A-8466E26FB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2ABDAA-35DA-0B70-BDE8-806656614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9DE203-8333-29FC-AA12-EFBD35D1B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1E650-F57F-4401-9E1F-691387ACB87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02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36C4-F33C-3120-CAF3-BE15A5F2F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427B3A-8C97-FA4F-B7E6-67320F3B4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B0A3B7-A4AA-A6E9-2CF3-89429EF44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F213A5-A27F-E629-8F73-12A5A9B4A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1E650-F57F-4401-9E1F-691387ACB87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7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14A5F-5A88-71A8-C55C-1661214BF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45D694-5E1E-EA8F-2A4B-EB5377C1B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1314A9-21EC-69D2-ECE9-F3276C766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A61A0F-1A21-4BC4-2719-65BAEB04F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1E650-F57F-4401-9E1F-691387ACB87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748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1E650-F57F-4401-9E1F-691387ACB87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319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4373706-D858-4D92-8441-DA81A92D7D8A}"/>
              </a:ext>
            </a:extLst>
          </p:cNvPr>
          <p:cNvSpPr/>
          <p:nvPr userDrawn="1"/>
        </p:nvSpPr>
        <p:spPr>
          <a:xfrm>
            <a:off x="1756582" y="1967392"/>
            <a:ext cx="5387041" cy="2315818"/>
          </a:xfrm>
          <a:prstGeom prst="rect">
            <a:avLst/>
          </a:prstGeom>
          <a:noFill/>
          <a:ln w="152400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74000">
                  <a:schemeClr val="accent1">
                    <a:lumMod val="75000"/>
                  </a:schemeClr>
                </a:gs>
                <a:gs pos="2500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3500000" scaled="1"/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35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0D4DAD0-F323-4364-A05A-910DC4712D82}"/>
              </a:ext>
            </a:extLst>
          </p:cNvPr>
          <p:cNvSpPr txBox="1"/>
          <p:nvPr userDrawn="1"/>
        </p:nvSpPr>
        <p:spPr>
          <a:xfrm>
            <a:off x="2531694" y="2771358"/>
            <a:ext cx="3836816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b="1" spc="-113" dirty="0">
                <a:ln>
                  <a:noFill/>
                </a:ln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54000">
                      <a:schemeClr val="accent1">
                        <a:lumMod val="75000"/>
                      </a:schemeClr>
                    </a:gs>
                    <a:gs pos="100000">
                      <a:schemeClr val="accent1">
                        <a:lumMod val="50000"/>
                      </a:schemeClr>
                    </a:gs>
                  </a:gsLst>
                  <a:lin ang="16200000" scaled="0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Weekly Meeting</a:t>
            </a:r>
            <a:endParaRPr lang="ja-JP" altLang="en-US" sz="4000" b="1" spc="-113" dirty="0">
              <a:ln>
                <a:noFill/>
              </a:ln>
              <a:gradFill flip="none" rotWithShape="1">
                <a:gsLst>
                  <a:gs pos="0">
                    <a:schemeClr val="accent1">
                      <a:lumMod val="50000"/>
                    </a:schemeClr>
                  </a:gs>
                  <a:gs pos="54000">
                    <a:schemeClr val="accent1">
                      <a:lumMod val="75000"/>
                    </a:schemeClr>
                  </a:gs>
                  <a:gs pos="100000">
                    <a:schemeClr val="accent1">
                      <a:lumMod val="50000"/>
                    </a:schemeClr>
                  </a:gs>
                </a:gsLst>
                <a:lin ang="16200000" scaled="0"/>
                <a:tileRect/>
              </a:gra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FF5B976-A268-025C-06E4-7B640953A1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43623" y="6231056"/>
            <a:ext cx="1906202" cy="55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66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bg>
      <p:bgPr>
        <a:gradFill>
          <a:gsLst>
            <a:gs pos="0">
              <a:schemeClr val="accent1">
                <a:lumMod val="50000"/>
              </a:schemeClr>
            </a:gs>
            <a:gs pos="74000">
              <a:schemeClr val="accent1">
                <a:lumMod val="75000"/>
              </a:schemeClr>
            </a:gs>
            <a:gs pos="25000">
              <a:schemeClr val="accent1">
                <a:lumMod val="75000"/>
              </a:schemeClr>
            </a:gs>
            <a:gs pos="100000">
              <a:schemeClr val="accent1">
                <a:lumMod val="5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10DBA8-F027-44AD-817E-1ACAE7C4FA54}"/>
              </a:ext>
            </a:extLst>
          </p:cNvPr>
          <p:cNvSpPr txBox="1"/>
          <p:nvPr userDrawn="1"/>
        </p:nvSpPr>
        <p:spPr>
          <a:xfrm>
            <a:off x="2367089" y="2812440"/>
            <a:ext cx="42450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지난주 발표</a:t>
            </a:r>
          </a:p>
        </p:txBody>
      </p:sp>
    </p:spTree>
    <p:extLst>
      <p:ext uri="{BB962C8B-B14F-4D97-AF65-F5344CB8AC3E}">
        <p14:creationId xmlns:p14="http://schemas.microsoft.com/office/powerpoint/2010/main" val="3330772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1">
            <a:extLst>
              <a:ext uri="{FF2B5EF4-FFF2-40B4-BE49-F238E27FC236}">
                <a16:creationId xmlns:a16="http://schemas.microsoft.com/office/drawing/2014/main" id="{7217A838-3278-4C92-A507-94EC95AD58A8}"/>
              </a:ext>
            </a:extLst>
          </p:cNvPr>
          <p:cNvSpPr>
            <a:spLocks noGrp="1"/>
          </p:cNvSpPr>
          <p:nvPr userDrawn="1"/>
        </p:nvSpPr>
        <p:spPr>
          <a:xfrm>
            <a:off x="8332553" y="6390582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4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BEDD84E-25D4-4983-8AA1-2863C96F08D9}" type="slidenum">
              <a:rPr lang="ko-KR" altLang="en-US" sz="1600" smtClean="0">
                <a:solidFill>
                  <a:srgbClr val="002060"/>
                </a:solidFill>
              </a:rPr>
              <a:pPr/>
              <a:t>‹#›</a:t>
            </a:fld>
            <a:endParaRPr lang="ko-KR" altLang="en-US" sz="1600" dirty="0">
              <a:solidFill>
                <a:srgbClr val="002060"/>
              </a:solidFill>
            </a:endParaRPr>
          </a:p>
        </p:txBody>
      </p:sp>
      <p:sp>
        <p:nvSpPr>
          <p:cNvPr id="16" name="제목 4">
            <a:extLst>
              <a:ext uri="{FF2B5EF4-FFF2-40B4-BE49-F238E27FC236}">
                <a16:creationId xmlns:a16="http://schemas.microsoft.com/office/drawing/2014/main" id="{69E5D92B-6F2F-4561-855C-C08AEA663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828" y="216250"/>
            <a:ext cx="8415611" cy="487213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accent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C85865F-0600-17CC-BFE9-C7083BB542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003" y="6232910"/>
            <a:ext cx="1906202" cy="555308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324C108-C2F7-0194-7ABF-8C8BAAA0A182}"/>
              </a:ext>
            </a:extLst>
          </p:cNvPr>
          <p:cNvSpPr/>
          <p:nvPr userDrawn="1"/>
        </p:nvSpPr>
        <p:spPr>
          <a:xfrm>
            <a:off x="271828" y="703463"/>
            <a:ext cx="8600344" cy="6781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74000">
                <a:schemeClr val="accent1">
                  <a:lumMod val="75000"/>
                </a:schemeClr>
              </a:gs>
              <a:gs pos="25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9836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bg>
      <p:bgPr>
        <a:gradFill>
          <a:gsLst>
            <a:gs pos="0">
              <a:schemeClr val="accent1">
                <a:lumMod val="50000"/>
              </a:schemeClr>
            </a:gs>
            <a:gs pos="74000">
              <a:schemeClr val="accent1">
                <a:lumMod val="75000"/>
              </a:schemeClr>
            </a:gs>
            <a:gs pos="25000">
              <a:schemeClr val="accent1">
                <a:lumMod val="75000"/>
              </a:schemeClr>
            </a:gs>
            <a:gs pos="100000">
              <a:schemeClr val="accent1">
                <a:lumMod val="5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10DBA8-F027-44AD-817E-1ACAE7C4FA54}"/>
              </a:ext>
            </a:extLst>
          </p:cNvPr>
          <p:cNvSpPr txBox="1"/>
          <p:nvPr userDrawn="1"/>
        </p:nvSpPr>
        <p:spPr>
          <a:xfrm>
            <a:off x="2751810" y="2812440"/>
            <a:ext cx="34756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금주 발표</a:t>
            </a:r>
          </a:p>
        </p:txBody>
      </p:sp>
    </p:spTree>
    <p:extLst>
      <p:ext uri="{BB962C8B-B14F-4D97-AF65-F5344CB8AC3E}">
        <p14:creationId xmlns:p14="http://schemas.microsoft.com/office/powerpoint/2010/main" val="147239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15B5A36F-FAF7-2368-8690-3B920E8EA33A}"/>
              </a:ext>
            </a:extLst>
          </p:cNvPr>
          <p:cNvGrpSpPr/>
          <p:nvPr userDrawn="1"/>
        </p:nvGrpSpPr>
        <p:grpSpPr>
          <a:xfrm>
            <a:off x="1841589" y="2634228"/>
            <a:ext cx="5821681" cy="1589543"/>
            <a:chOff x="1422845" y="4236654"/>
            <a:chExt cx="5821681" cy="158954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F851D8F-760A-7FD7-9F97-D234178A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422845" y="4236654"/>
              <a:ext cx="1346482" cy="142646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B8EDA76-7F56-DDB7-6968-83DE940F38DC}"/>
                </a:ext>
              </a:extLst>
            </p:cNvPr>
            <p:cNvSpPr txBox="1"/>
            <p:nvPr userDrawn="1"/>
          </p:nvSpPr>
          <p:spPr>
            <a:xfrm>
              <a:off x="2716940" y="4271926"/>
              <a:ext cx="4457310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0" i="1" dirty="0">
                  <a:ln w="22225">
                    <a:noFill/>
                  </a:ln>
                  <a:solidFill>
                    <a:srgbClr val="002060"/>
                  </a:solidFill>
                  <a:latin typeface="공체 Bold" panose="00000800000000000000" pitchFamily="2" charset="-127"/>
                  <a:ea typeface="공체 Bold" panose="00000800000000000000" pitchFamily="2" charset="-127"/>
                </a:rPr>
                <a:t>MPLAB</a:t>
              </a:r>
              <a:endParaRPr lang="ko-KR" altLang="en-US" sz="8000" i="1" dirty="0">
                <a:ln w="22225">
                  <a:noFill/>
                </a:ln>
                <a:solidFill>
                  <a:srgbClr val="002060"/>
                </a:solidFill>
                <a:latin typeface="공체 Bold" panose="00000800000000000000" pitchFamily="2" charset="-127"/>
                <a:ea typeface="공체 Bold" panose="00000800000000000000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B76C6A-DBE5-2894-AFF9-D51F8BE71BBD}"/>
                </a:ext>
              </a:extLst>
            </p:cNvPr>
            <p:cNvSpPr txBox="1"/>
            <p:nvPr userDrawn="1"/>
          </p:nvSpPr>
          <p:spPr>
            <a:xfrm>
              <a:off x="2646664" y="5364532"/>
              <a:ext cx="45978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dirty="0">
                  <a:ln w="0">
                    <a:noFill/>
                  </a:ln>
                  <a:solidFill>
                    <a:srgbClr val="002060"/>
                  </a:solidFill>
                  <a:latin typeface="경기천년제목 Bold" panose="02020803020101020101" pitchFamily="18" charset="-127"/>
                  <a:ea typeface="경기천년제목 Bold" panose="02020803020101020101" pitchFamily="18" charset="-127"/>
                </a:rPr>
                <a:t>Media Processing Laboratory</a:t>
              </a:r>
              <a:endParaRPr lang="ko-KR" altLang="en-US" sz="2400" dirty="0">
                <a:ln w="0">
                  <a:noFill/>
                </a:ln>
                <a:solidFill>
                  <a:srgbClr val="00206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7019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bg>
      <p:bgPr>
        <a:gradFill>
          <a:gsLst>
            <a:gs pos="0">
              <a:schemeClr val="accent1">
                <a:lumMod val="50000"/>
              </a:schemeClr>
            </a:gs>
            <a:gs pos="74000">
              <a:schemeClr val="accent1">
                <a:lumMod val="75000"/>
              </a:schemeClr>
            </a:gs>
            <a:gs pos="25000">
              <a:schemeClr val="accent1">
                <a:lumMod val="75000"/>
              </a:schemeClr>
            </a:gs>
            <a:gs pos="100000">
              <a:schemeClr val="accent1">
                <a:lumMod val="50000"/>
              </a:schemeClr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10DBA8-F027-44AD-817E-1ACAE7C4FA54}"/>
              </a:ext>
            </a:extLst>
          </p:cNvPr>
          <p:cNvSpPr txBox="1"/>
          <p:nvPr userDrawn="1"/>
        </p:nvSpPr>
        <p:spPr>
          <a:xfrm>
            <a:off x="2467531" y="2812440"/>
            <a:ext cx="40441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ko-KR" altLang="en-US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810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434CE-8DFC-4B20-BEA1-23AF295E63AD}" type="datetime1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39246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0CCBF25-8A7E-4C75-83FC-4F3ECAC9F1C1}" type="slidenum">
              <a:rPr lang="ko-KR" altLang="en-US" smtClean="0"/>
              <a:pPr/>
              <a:t>‹#›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930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1" r:id="rId2"/>
    <p:sldLayoutId id="2147483667" r:id="rId3"/>
    <p:sldLayoutId id="2147483672" r:id="rId4"/>
    <p:sldLayoutId id="2147483670" r:id="rId5"/>
    <p:sldLayoutId id="2147483668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3940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40"/>
    </mc:Choice>
    <mc:Fallback xmlns="">
      <p:transition advTm="54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5684B-9E7C-2CF4-8DD2-522CE18F5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706A4-1453-750A-6110-DD7CD5E6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HW</a:t>
            </a:r>
            <a:r>
              <a:rPr lang="ko-KR" altLang="en-US" sz="2800" dirty="0"/>
              <a:t> </a:t>
            </a:r>
            <a:r>
              <a:rPr lang="en-US" altLang="ko-KR" sz="2800" dirty="0"/>
              <a:t>Architecture</a:t>
            </a:r>
            <a:endParaRPr lang="ko-KR" altLang="en-US" sz="2800" dirty="0"/>
          </a:p>
        </p:txBody>
      </p:sp>
      <p:pic>
        <p:nvPicPr>
          <p:cNvPr id="119" name="그림 118">
            <a:extLst>
              <a:ext uri="{FF2B5EF4-FFF2-40B4-BE49-F238E27FC236}">
                <a16:creationId xmlns:a16="http://schemas.microsoft.com/office/drawing/2014/main" id="{DE3C59BB-C756-6385-A772-D2E69C787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40" y="969615"/>
            <a:ext cx="8966719" cy="2698084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3A7F65D1-E326-9C28-B131-A58E38567571}"/>
              </a:ext>
            </a:extLst>
          </p:cNvPr>
          <p:cNvSpPr txBox="1"/>
          <p:nvPr/>
        </p:nvSpPr>
        <p:spPr>
          <a:xfrm>
            <a:off x="271828" y="3732799"/>
            <a:ext cx="2004841" cy="1459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400" b="1" dirty="0"/>
              <a:t>SPI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Master </a:t>
            </a:r>
            <a:r>
              <a:rPr lang="en-US" altLang="ko-KR" sz="1400" b="1" dirty="0">
                <a:sym typeface="Wingdings" panose="05000000000000000000" pitchFamily="2" charset="2"/>
              </a:rPr>
              <a:t> Slave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Command</a:t>
            </a:r>
            <a:r>
              <a:rPr lang="en-US" altLang="ko-KR" sz="1200" dirty="0"/>
              <a:t>(3bit) [15:13]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Data</a:t>
            </a:r>
            <a:r>
              <a:rPr lang="en-US" altLang="ko-KR" sz="1200" dirty="0"/>
              <a:t>(8bit)           [12:5]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Address</a:t>
            </a:r>
            <a:r>
              <a:rPr lang="en-US" altLang="ko-KR" sz="1200" dirty="0"/>
              <a:t>(4bit)     [4:1]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Mode</a:t>
            </a:r>
            <a:r>
              <a:rPr lang="en-US" altLang="ko-KR" sz="1200" dirty="0"/>
              <a:t>(1bit)         [0]</a:t>
            </a:r>
          </a:p>
          <a:p>
            <a:pPr>
              <a:lnSpc>
                <a:spcPts val="1800"/>
              </a:lnSpc>
            </a:pPr>
            <a:r>
              <a:rPr lang="en-US" altLang="ko-KR" sz="1200" dirty="0">
                <a:sym typeface="Wingdings" panose="05000000000000000000" pitchFamily="2" charset="2"/>
              </a:rPr>
              <a:t> Total 16bit</a:t>
            </a:r>
            <a:endParaRPr lang="en-US" altLang="ko-KR" sz="12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5F12B42-C392-5BFD-26D5-D3A0E6FD6939}"/>
              </a:ext>
            </a:extLst>
          </p:cNvPr>
          <p:cNvSpPr txBox="1"/>
          <p:nvPr/>
        </p:nvSpPr>
        <p:spPr>
          <a:xfrm>
            <a:off x="2276669" y="3732799"/>
            <a:ext cx="2004841" cy="1691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400" b="1" dirty="0"/>
              <a:t>Commands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CMD_LOAD_W</a:t>
            </a:r>
            <a:r>
              <a:rPr lang="en-US" altLang="ko-KR" sz="1200" dirty="0"/>
              <a:t>         (000)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CMD_LOAD_I            </a:t>
            </a:r>
            <a:r>
              <a:rPr lang="en-US" altLang="ko-KR" sz="1200" dirty="0"/>
              <a:t>(001)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CMD_COMPUTE       </a:t>
            </a:r>
            <a:r>
              <a:rPr lang="en-US" altLang="ko-KR" sz="1200" dirty="0"/>
              <a:t>(010)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CMD_ACC                   </a:t>
            </a:r>
            <a:r>
              <a:rPr lang="en-US" altLang="ko-KR" sz="1200" dirty="0"/>
              <a:t>(011)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CMD_READ_RESULT </a:t>
            </a:r>
            <a:r>
              <a:rPr lang="en-US" altLang="ko-KR" sz="1200" dirty="0"/>
              <a:t>(100)</a:t>
            </a:r>
          </a:p>
          <a:p>
            <a:pPr>
              <a:lnSpc>
                <a:spcPts val="1800"/>
              </a:lnSpc>
            </a:pPr>
            <a:r>
              <a:rPr lang="en-US" altLang="ko-KR" sz="1200" dirty="0">
                <a:sym typeface="Wingdings" panose="05000000000000000000" pitchFamily="2" charset="2"/>
              </a:rPr>
              <a:t> Total 5 commands</a:t>
            </a:r>
            <a:endParaRPr lang="en-US" altLang="ko-KR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743415-8495-ECBC-1AA8-DD19EFCF2C24}"/>
              </a:ext>
            </a:extLst>
          </p:cNvPr>
          <p:cNvSpPr txBox="1"/>
          <p:nvPr/>
        </p:nvSpPr>
        <p:spPr>
          <a:xfrm>
            <a:off x="271828" y="5489003"/>
            <a:ext cx="7043374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+mj-ea"/>
                <a:ea typeface="+mj-ea"/>
              </a:rPr>
              <a:t>SPI</a:t>
            </a:r>
            <a:r>
              <a:rPr lang="ko-KR" altLang="en-US" sz="1000" dirty="0">
                <a:latin typeface="+mj-ea"/>
                <a:ea typeface="+mj-ea"/>
              </a:rPr>
              <a:t>로 </a:t>
            </a:r>
            <a:r>
              <a:rPr lang="en-US" altLang="ko-KR" sz="1000" dirty="0">
                <a:latin typeface="+mj-ea"/>
                <a:ea typeface="+mj-ea"/>
              </a:rPr>
              <a:t>E5M2/E4M3</a:t>
            </a:r>
            <a:r>
              <a:rPr lang="ko-KR" altLang="en-US" sz="1000" dirty="0">
                <a:latin typeface="+mj-ea"/>
                <a:ea typeface="+mj-ea"/>
              </a:rPr>
              <a:t>받아서 </a:t>
            </a:r>
            <a:r>
              <a:rPr lang="en-US" altLang="ko-KR" sz="1000" dirty="0">
                <a:latin typeface="+mj-ea"/>
                <a:ea typeface="+mj-ea"/>
              </a:rPr>
              <a:t>Formatter</a:t>
            </a:r>
            <a:r>
              <a:rPr lang="ko-KR" altLang="en-US" sz="1000" dirty="0">
                <a:latin typeface="+mj-ea"/>
                <a:ea typeface="+mj-ea"/>
              </a:rPr>
              <a:t>가 </a:t>
            </a:r>
            <a:r>
              <a:rPr lang="en-US" altLang="ko-KR" sz="1000" dirty="0">
                <a:latin typeface="+mj-ea"/>
                <a:ea typeface="+mj-ea"/>
              </a:rPr>
              <a:t>E5M3</a:t>
            </a:r>
            <a:r>
              <a:rPr lang="ko-KR" altLang="en-US" sz="1000" dirty="0">
                <a:latin typeface="+mj-ea"/>
                <a:ea typeface="+mj-ea"/>
              </a:rPr>
              <a:t>로 확장</a:t>
            </a:r>
            <a:r>
              <a:rPr lang="en-US" altLang="ko-KR" sz="1000" dirty="0">
                <a:latin typeface="+mj-ea"/>
                <a:ea typeface="+mj-ea"/>
              </a:rPr>
              <a:t>, </a:t>
            </a:r>
            <a:r>
              <a:rPr lang="ko-KR" altLang="en-US" sz="1000" dirty="0">
                <a:latin typeface="+mj-ea"/>
                <a:ea typeface="+mj-ea"/>
              </a:rPr>
              <a:t>이후 </a:t>
            </a:r>
            <a:r>
              <a:rPr lang="en-US" altLang="ko-KR" sz="1000" dirty="0">
                <a:latin typeface="+mj-ea"/>
                <a:ea typeface="+mj-ea"/>
              </a:rPr>
              <a:t>FPU</a:t>
            </a:r>
            <a:r>
              <a:rPr lang="ko-KR" altLang="en-US" sz="1000" dirty="0">
                <a:latin typeface="+mj-ea"/>
                <a:ea typeface="+mj-ea"/>
              </a:rPr>
              <a:t>와 </a:t>
            </a:r>
            <a:r>
              <a:rPr lang="en-US" altLang="ko-KR" sz="1000" dirty="0">
                <a:latin typeface="+mj-ea"/>
                <a:ea typeface="+mj-ea"/>
              </a:rPr>
              <a:t>ACC</a:t>
            </a:r>
            <a:r>
              <a:rPr lang="ko-KR" altLang="en-US" sz="1000" dirty="0">
                <a:latin typeface="+mj-ea"/>
                <a:ea typeface="+mj-ea"/>
              </a:rPr>
              <a:t>는 </a:t>
            </a:r>
            <a:r>
              <a:rPr lang="en-US" altLang="ko-KR" sz="1000" dirty="0">
                <a:latin typeface="+mj-ea"/>
                <a:ea typeface="+mj-ea"/>
              </a:rPr>
              <a:t>E5M3</a:t>
            </a:r>
            <a:r>
              <a:rPr lang="ko-KR" altLang="en-US" sz="1000" dirty="0">
                <a:latin typeface="+mj-ea"/>
                <a:ea typeface="+mj-ea"/>
              </a:rPr>
              <a:t>로 연산 후 </a:t>
            </a:r>
            <a:r>
              <a:rPr lang="en-US" altLang="ko-KR" sz="1000" dirty="0">
                <a:latin typeface="+mj-ea"/>
                <a:ea typeface="+mj-ea"/>
              </a:rPr>
              <a:t>E5M3</a:t>
            </a:r>
            <a:r>
              <a:rPr lang="ko-KR" altLang="en-US" sz="1000" dirty="0">
                <a:latin typeface="+mj-ea"/>
                <a:ea typeface="+mj-ea"/>
              </a:rPr>
              <a:t>로 출력</a:t>
            </a:r>
            <a:r>
              <a:rPr lang="en-US" altLang="ko-KR" sz="1000" dirty="0">
                <a:latin typeface="+mj-ea"/>
                <a:ea typeface="+mj-ea"/>
              </a:rPr>
              <a:t>.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+mj-ea"/>
                <a:ea typeface="+mj-ea"/>
              </a:rPr>
              <a:t>Master</a:t>
            </a:r>
            <a:r>
              <a:rPr lang="ko-KR" altLang="en-US" sz="1000" dirty="0">
                <a:latin typeface="+mj-ea"/>
                <a:ea typeface="+mj-ea"/>
              </a:rPr>
              <a:t>로 보내기 전 </a:t>
            </a:r>
            <a:r>
              <a:rPr lang="en-US" altLang="ko-KR" sz="1000" dirty="0">
                <a:latin typeface="+mj-ea"/>
                <a:ea typeface="+mj-ea"/>
              </a:rPr>
              <a:t>Formatter</a:t>
            </a:r>
            <a:r>
              <a:rPr lang="ko-KR" altLang="en-US" sz="1000" dirty="0">
                <a:latin typeface="+mj-ea"/>
                <a:ea typeface="+mj-ea"/>
              </a:rPr>
              <a:t>에서 지정한 </a:t>
            </a:r>
            <a:r>
              <a:rPr lang="en-US" altLang="ko-KR" sz="1000" dirty="0">
                <a:latin typeface="+mj-ea"/>
                <a:ea typeface="+mj-ea"/>
              </a:rPr>
              <a:t>mode(E5M2/E4M3)</a:t>
            </a:r>
            <a:r>
              <a:rPr lang="ko-KR" altLang="en-US" sz="1000" dirty="0">
                <a:latin typeface="+mj-ea"/>
                <a:ea typeface="+mj-ea"/>
              </a:rPr>
              <a:t>로 변환</a:t>
            </a:r>
            <a:r>
              <a:rPr lang="en-US" altLang="ko-KR" sz="1000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1594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DE509-0C0C-A7E6-B719-634BBC77C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48B9C-20E4-B6AC-DA4F-BC65FEC64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Module </a:t>
            </a:r>
            <a:r>
              <a:rPr lang="ko-KR" altLang="en-US" sz="2800" dirty="0"/>
              <a:t>구성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68C1E90-F350-5D4D-6836-816D19C01544}"/>
              </a:ext>
            </a:extLst>
          </p:cNvPr>
          <p:cNvSpPr txBox="1"/>
          <p:nvPr/>
        </p:nvSpPr>
        <p:spPr>
          <a:xfrm>
            <a:off x="421117" y="4069381"/>
            <a:ext cx="7852024" cy="1910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200" b="1" dirty="0">
                <a:latin typeface="+mn-ea"/>
              </a:rPr>
              <a:t>Module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>
                <a:latin typeface="+mn-ea"/>
              </a:rPr>
              <a:t>SPI</a:t>
            </a:r>
            <a:r>
              <a:rPr lang="en-US" altLang="ko-KR" sz="1050" dirty="0">
                <a:latin typeface="+mn-ea"/>
              </a:rPr>
              <a:t>:</a:t>
            </a:r>
            <a:r>
              <a:rPr lang="ko-KR" altLang="en-US" sz="1050" dirty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16bit data</a:t>
            </a:r>
            <a:r>
              <a:rPr lang="ko-KR" altLang="en-US" sz="1050" dirty="0">
                <a:latin typeface="+mn-ea"/>
              </a:rPr>
              <a:t> 송수신 </a:t>
            </a:r>
            <a:r>
              <a:rPr lang="en-US" altLang="ko-KR" sz="1050" dirty="0">
                <a:latin typeface="+mn-ea"/>
              </a:rPr>
              <a:t>interface.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>
                <a:latin typeface="+mn-ea"/>
              </a:rPr>
              <a:t>IR</a:t>
            </a:r>
            <a:r>
              <a:rPr lang="en-US" altLang="ko-KR" sz="1050" dirty="0">
                <a:latin typeface="+mn-ea"/>
              </a:rPr>
              <a:t>(Instruction Register): 16bit</a:t>
            </a:r>
            <a:r>
              <a:rPr lang="ko-KR" altLang="en-US" sz="1050" dirty="0">
                <a:latin typeface="+mn-ea"/>
              </a:rPr>
              <a:t>를 받아 각 필드별로 값을 분해한 뒤 </a:t>
            </a:r>
            <a:r>
              <a:rPr lang="en-US" altLang="ko-KR" sz="1050" dirty="0" err="1">
                <a:latin typeface="+mn-ea"/>
              </a:rPr>
              <a:t>fp</a:t>
            </a:r>
            <a:r>
              <a:rPr lang="en-US" altLang="ko-KR" sz="1050" dirty="0">
                <a:latin typeface="+mn-ea"/>
              </a:rPr>
              <a:t> data(E5M2 or E4M3)</a:t>
            </a:r>
            <a:r>
              <a:rPr lang="ko-KR" altLang="en-US" sz="1050" dirty="0">
                <a:latin typeface="+mn-ea"/>
              </a:rPr>
              <a:t>를 </a:t>
            </a:r>
            <a:r>
              <a:rPr lang="en-US" altLang="ko-KR" sz="1050" dirty="0">
                <a:latin typeface="+mn-ea"/>
              </a:rPr>
              <a:t>E5M3</a:t>
            </a:r>
            <a:r>
              <a:rPr lang="ko-KR" altLang="en-US" sz="1050" dirty="0">
                <a:latin typeface="+mn-ea"/>
              </a:rPr>
              <a:t>로 확장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>
                <a:latin typeface="+mn-ea"/>
              </a:rPr>
              <a:t>W_I_RF</a:t>
            </a:r>
            <a:r>
              <a:rPr lang="en-US" altLang="ko-KR" sz="1050" dirty="0">
                <a:latin typeface="+mn-ea"/>
              </a:rPr>
              <a:t>(Weight/Input Register File): weight</a:t>
            </a:r>
            <a:r>
              <a:rPr lang="ko-KR" altLang="en-US" sz="1050" dirty="0">
                <a:latin typeface="+mn-ea"/>
              </a:rPr>
              <a:t>와 </a:t>
            </a:r>
            <a:r>
              <a:rPr lang="en-US" altLang="ko-KR" sz="1050" dirty="0">
                <a:latin typeface="+mn-ea"/>
              </a:rPr>
              <a:t>input</a:t>
            </a:r>
            <a:r>
              <a:rPr lang="ko-KR" altLang="en-US" sz="1050" dirty="0">
                <a:latin typeface="+mn-ea"/>
              </a:rPr>
              <a:t>을 저장하는 </a:t>
            </a:r>
            <a:r>
              <a:rPr lang="en-US" altLang="ko-KR" sz="1050" dirty="0">
                <a:latin typeface="+mn-ea"/>
              </a:rPr>
              <a:t>register file (weight</a:t>
            </a:r>
            <a:r>
              <a:rPr lang="ko-KR" altLang="en-US" sz="1050" dirty="0">
                <a:latin typeface="+mn-ea"/>
              </a:rPr>
              <a:t>와 </a:t>
            </a:r>
            <a:r>
              <a:rPr lang="en-US" altLang="ko-KR" sz="1050" dirty="0">
                <a:latin typeface="+mn-ea"/>
              </a:rPr>
              <a:t>input </a:t>
            </a:r>
            <a:r>
              <a:rPr lang="ko-KR" altLang="en-US" sz="1050" dirty="0" err="1">
                <a:latin typeface="+mn-ea"/>
              </a:rPr>
              <a:t>나뉘어있음</a:t>
            </a:r>
            <a:r>
              <a:rPr lang="en-US" altLang="ko-KR" sz="1050" dirty="0">
                <a:latin typeface="+mn-ea"/>
              </a:rPr>
              <a:t>).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>
                <a:latin typeface="+mn-ea"/>
              </a:rPr>
              <a:t>FPU</a:t>
            </a:r>
            <a:r>
              <a:rPr lang="en-US" altLang="ko-KR" sz="1050" dirty="0">
                <a:latin typeface="+mn-ea"/>
              </a:rPr>
              <a:t>:</a:t>
            </a:r>
            <a:r>
              <a:rPr lang="ko-KR" altLang="en-US" sz="1050" dirty="0">
                <a:latin typeface="+mn-ea"/>
              </a:rPr>
              <a:t> 확장된 </a:t>
            </a:r>
            <a:r>
              <a:rPr lang="en-US" altLang="ko-KR" sz="1050" dirty="0">
                <a:latin typeface="+mn-ea"/>
              </a:rPr>
              <a:t>E5M3</a:t>
            </a:r>
            <a:r>
              <a:rPr lang="ko-KR" altLang="en-US" sz="1050" dirty="0">
                <a:latin typeface="+mn-ea"/>
              </a:rPr>
              <a:t>를 곱셈 연산하고 </a:t>
            </a:r>
            <a:r>
              <a:rPr lang="en-US" altLang="ko-KR" sz="1050" dirty="0">
                <a:latin typeface="+mn-ea"/>
              </a:rPr>
              <a:t>E5M3</a:t>
            </a:r>
            <a:r>
              <a:rPr lang="ko-KR" altLang="en-US" sz="1050" dirty="0">
                <a:latin typeface="+mn-ea"/>
              </a:rPr>
              <a:t>로 출력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>
                <a:latin typeface="+mn-ea"/>
              </a:rPr>
              <a:t>FPU_RF</a:t>
            </a:r>
            <a:r>
              <a:rPr lang="en-US" altLang="ko-KR" sz="1050" dirty="0">
                <a:latin typeface="+mn-ea"/>
              </a:rPr>
              <a:t>: FPU</a:t>
            </a:r>
            <a:r>
              <a:rPr lang="ko-KR" altLang="en-US" sz="1050" dirty="0">
                <a:latin typeface="+mn-ea"/>
              </a:rPr>
              <a:t>의 연산 결과 저장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>
                <a:latin typeface="+mn-ea"/>
              </a:rPr>
              <a:t>ACC</a:t>
            </a:r>
            <a:r>
              <a:rPr lang="en-US" altLang="ko-KR" sz="1050" dirty="0">
                <a:latin typeface="+mn-ea"/>
              </a:rPr>
              <a:t>: </a:t>
            </a:r>
            <a:r>
              <a:rPr lang="ko-KR" altLang="en-US" sz="1050" dirty="0">
                <a:latin typeface="+mn-ea"/>
              </a:rPr>
              <a:t>각</a:t>
            </a:r>
            <a:r>
              <a:rPr lang="en-US" altLang="ko-KR" sz="1050" dirty="0">
                <a:latin typeface="+mn-ea"/>
              </a:rPr>
              <a:t> FPU_RF</a:t>
            </a:r>
            <a:r>
              <a:rPr lang="ko-KR" altLang="en-US" sz="1050" dirty="0">
                <a:latin typeface="+mn-ea"/>
              </a:rPr>
              <a:t>에서 순서대로 값을 가져와 누적 합 연산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>
                <a:latin typeface="+mn-ea"/>
              </a:rPr>
              <a:t>ACC_R: ACC</a:t>
            </a:r>
            <a:r>
              <a:rPr lang="en-US" altLang="ko-KR" sz="1050" dirty="0">
                <a:latin typeface="+mn-ea"/>
              </a:rPr>
              <a:t> </a:t>
            </a:r>
            <a:r>
              <a:rPr lang="ko-KR" altLang="en-US" sz="1050" dirty="0">
                <a:latin typeface="+mn-ea"/>
              </a:rPr>
              <a:t>연산 결과를 저장 및 지정된 </a:t>
            </a:r>
            <a:r>
              <a:rPr lang="en-US" altLang="ko-KR" sz="1050" dirty="0">
                <a:latin typeface="+mn-ea"/>
              </a:rPr>
              <a:t>mode(E5M2 or E4M3)</a:t>
            </a:r>
            <a:r>
              <a:rPr lang="ko-KR" altLang="en-US" sz="1050" dirty="0">
                <a:latin typeface="+mn-ea"/>
              </a:rPr>
              <a:t>로 포맷 맞춤</a:t>
            </a:r>
            <a:r>
              <a:rPr lang="en-US" altLang="ko-KR" sz="1050" dirty="0">
                <a:latin typeface="+mn-ea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AEA2DE2-6070-66A3-4457-F685EEF67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98" y="868221"/>
            <a:ext cx="9022702" cy="307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912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F1700-FEBE-9A3B-11CC-E64F89C29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06DAB-9985-B9CB-DF60-0AB23E31F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Data/control signal flow</a:t>
            </a:r>
            <a:endParaRPr lang="ko-KR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D4B810-6D99-AECE-F694-1923BD69591F}"/>
              </a:ext>
            </a:extLst>
          </p:cNvPr>
          <p:cNvSpPr txBox="1"/>
          <p:nvPr/>
        </p:nvSpPr>
        <p:spPr>
          <a:xfrm>
            <a:off x="346473" y="3989049"/>
            <a:ext cx="5700158" cy="690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ko-KR" sz="1200" b="1" dirty="0">
                <a:latin typeface="+mn-ea"/>
              </a:rPr>
              <a:t>Datapath </a:t>
            </a:r>
            <a:r>
              <a:rPr lang="en-US" altLang="ko-KR" sz="1200" b="1" dirty="0">
                <a:latin typeface="+mn-ea"/>
                <a:sym typeface="Wingdings" panose="05000000000000000000" pitchFamily="2" charset="2"/>
              </a:rPr>
              <a:t> Control</a:t>
            </a:r>
            <a:endParaRPr lang="en-US" altLang="ko-KR" sz="1200" b="1" dirty="0"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en-US" altLang="ko-KR" sz="1200" dirty="0">
                <a:latin typeface="+mn-ea"/>
              </a:rPr>
              <a:t>FPU</a:t>
            </a:r>
            <a:r>
              <a:rPr lang="ko-KR" altLang="en-US" sz="1200" dirty="0">
                <a:latin typeface="+mn-ea"/>
              </a:rPr>
              <a:t>와 </a:t>
            </a:r>
            <a:r>
              <a:rPr lang="en-US" altLang="ko-KR" sz="1200" dirty="0">
                <a:latin typeface="+mn-ea"/>
              </a:rPr>
              <a:t>ACC</a:t>
            </a:r>
            <a:r>
              <a:rPr lang="ko-KR" altLang="en-US" sz="1200" dirty="0">
                <a:latin typeface="+mn-ea"/>
              </a:rPr>
              <a:t>는 연산이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끝나면 </a:t>
            </a:r>
            <a:r>
              <a:rPr lang="en-US" altLang="ko-KR" sz="1200" dirty="0">
                <a:latin typeface="+mn-ea"/>
              </a:rPr>
              <a:t>done </a:t>
            </a:r>
            <a:r>
              <a:rPr lang="en-US" altLang="ko-KR" sz="1200" dirty="0" err="1">
                <a:latin typeface="+mn-ea"/>
              </a:rPr>
              <a:t>sinal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발생</a:t>
            </a:r>
            <a:r>
              <a:rPr lang="en-US" altLang="ko-KR" sz="1200" dirty="0">
                <a:latin typeface="+mn-ea"/>
              </a:rPr>
              <a:t>, control</a:t>
            </a:r>
            <a:r>
              <a:rPr lang="ko-KR" altLang="en-US" sz="1200" dirty="0">
                <a:latin typeface="+mn-ea"/>
              </a:rPr>
              <a:t>이 </a:t>
            </a:r>
            <a:r>
              <a:rPr lang="en-US" altLang="ko-KR" sz="1200" dirty="0">
                <a:latin typeface="+mn-ea"/>
              </a:rPr>
              <a:t>done </a:t>
            </a:r>
            <a:r>
              <a:rPr lang="ko-KR" altLang="en-US" sz="1200" dirty="0" err="1">
                <a:latin typeface="+mn-ea"/>
              </a:rPr>
              <a:t>카운팅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ts val="1600"/>
              </a:lnSpc>
            </a:pPr>
            <a:r>
              <a:rPr lang="en-US" altLang="ko-KR" sz="1200" dirty="0">
                <a:latin typeface="+mn-ea"/>
              </a:rPr>
              <a:t>W_I_RF</a:t>
            </a:r>
            <a:r>
              <a:rPr lang="ko-KR" altLang="en-US" sz="1200" dirty="0">
                <a:latin typeface="+mn-ea"/>
              </a:rPr>
              <a:t>와 </a:t>
            </a:r>
            <a:r>
              <a:rPr lang="en-US" altLang="ko-KR" sz="1200" dirty="0">
                <a:latin typeface="+mn-ea"/>
              </a:rPr>
              <a:t>FPU_RF, ACC_R</a:t>
            </a:r>
            <a:r>
              <a:rPr lang="ko-KR" altLang="en-US" sz="1200" dirty="0">
                <a:latin typeface="+mn-ea"/>
              </a:rPr>
              <a:t>은 모든 </a:t>
            </a:r>
            <a:r>
              <a:rPr lang="en-US" altLang="ko-KR" sz="1200" dirty="0">
                <a:latin typeface="+mn-ea"/>
              </a:rPr>
              <a:t>register</a:t>
            </a:r>
            <a:r>
              <a:rPr lang="ko-KR" altLang="en-US" sz="1200" dirty="0">
                <a:latin typeface="+mn-ea"/>
              </a:rPr>
              <a:t>의 값이 </a:t>
            </a:r>
            <a:r>
              <a:rPr lang="en-US" altLang="ko-KR" sz="1200" dirty="0">
                <a:latin typeface="+mn-ea"/>
              </a:rPr>
              <a:t>valid</a:t>
            </a:r>
            <a:r>
              <a:rPr lang="ko-KR" altLang="en-US" sz="1200" dirty="0">
                <a:latin typeface="+mn-ea"/>
              </a:rPr>
              <a:t>하면 </a:t>
            </a:r>
            <a:r>
              <a:rPr lang="en-US" altLang="ko-KR" sz="1200" dirty="0" err="1">
                <a:latin typeface="+mn-ea"/>
              </a:rPr>
              <a:t>all_valid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발생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FDD180-295B-1AD7-B070-632D4CE59692}"/>
              </a:ext>
            </a:extLst>
          </p:cNvPr>
          <p:cNvSpPr txBox="1"/>
          <p:nvPr/>
        </p:nvSpPr>
        <p:spPr>
          <a:xfrm>
            <a:off x="346473" y="4935871"/>
            <a:ext cx="8564263" cy="895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ko-KR" sz="1200" b="1" dirty="0">
                <a:latin typeface="+mn-ea"/>
              </a:rPr>
              <a:t>Control </a:t>
            </a:r>
            <a:r>
              <a:rPr lang="en-US" altLang="ko-KR" sz="1200" b="1" dirty="0">
                <a:latin typeface="+mn-ea"/>
                <a:sym typeface="Wingdings" panose="05000000000000000000" pitchFamily="2" charset="2"/>
              </a:rPr>
              <a:t> Datapath</a:t>
            </a:r>
          </a:p>
          <a:p>
            <a:pPr>
              <a:lnSpc>
                <a:spcPts val="1600"/>
              </a:lnSpc>
            </a:pPr>
            <a:r>
              <a:rPr lang="en-US" altLang="ko-KR" sz="1200" dirty="0">
                <a:latin typeface="+mn-ea"/>
              </a:rPr>
              <a:t>Done</a:t>
            </a:r>
            <a:r>
              <a:rPr lang="ko-KR" altLang="en-US" sz="1200" dirty="0">
                <a:latin typeface="+mn-ea"/>
              </a:rPr>
              <a:t>이 </a:t>
            </a:r>
            <a:r>
              <a:rPr lang="en-US" altLang="ko-KR" sz="1200" dirty="0">
                <a:latin typeface="+mn-ea"/>
              </a:rPr>
              <a:t>8</a:t>
            </a:r>
            <a:r>
              <a:rPr lang="ko-KR" altLang="en-US" sz="1200" dirty="0">
                <a:latin typeface="+mn-ea"/>
              </a:rPr>
              <a:t>번 발생하면 </a:t>
            </a:r>
            <a:r>
              <a:rPr lang="en-US" altLang="ko-KR" sz="1200" dirty="0">
                <a:latin typeface="+mn-ea"/>
              </a:rPr>
              <a:t>FPU</a:t>
            </a:r>
            <a:r>
              <a:rPr lang="ko-KR" altLang="en-US" sz="1200" dirty="0">
                <a:latin typeface="+mn-ea"/>
              </a:rPr>
              <a:t>또는 </a:t>
            </a:r>
            <a:r>
              <a:rPr lang="en-US" altLang="ko-KR" sz="1200" dirty="0">
                <a:latin typeface="+mn-ea"/>
              </a:rPr>
              <a:t>ACC</a:t>
            </a:r>
            <a:r>
              <a:rPr lang="ko-KR" altLang="en-US" sz="1200" dirty="0">
                <a:latin typeface="+mn-ea"/>
              </a:rPr>
              <a:t>의 결과를 저장하는 </a:t>
            </a:r>
            <a:r>
              <a:rPr lang="en-US" altLang="ko-KR" sz="1200" dirty="0">
                <a:latin typeface="+mn-ea"/>
              </a:rPr>
              <a:t>RF or R</a:t>
            </a:r>
            <a:r>
              <a:rPr lang="ko-KR" altLang="en-US" sz="1200" dirty="0">
                <a:latin typeface="+mn-ea"/>
              </a:rPr>
              <a:t>에 </a:t>
            </a:r>
            <a:r>
              <a:rPr lang="en-US" altLang="ko-KR" sz="1200" dirty="0">
                <a:latin typeface="+mn-ea"/>
              </a:rPr>
              <a:t>write enable </a:t>
            </a:r>
            <a:r>
              <a:rPr lang="ko-KR" altLang="en-US" sz="1200" dirty="0">
                <a:latin typeface="+mn-ea"/>
              </a:rPr>
              <a:t>보냄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ts val="1600"/>
              </a:lnSpc>
            </a:pPr>
            <a:r>
              <a:rPr lang="en-US" altLang="ko-KR" sz="1200" dirty="0">
                <a:latin typeface="+mn-ea"/>
              </a:rPr>
              <a:t>W_I_RF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or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FPU_RF</a:t>
            </a:r>
            <a:r>
              <a:rPr lang="ko-KR" altLang="en-US" sz="1200" dirty="0">
                <a:latin typeface="+mn-ea"/>
              </a:rPr>
              <a:t>의 값이 모두 </a:t>
            </a:r>
            <a:r>
              <a:rPr lang="en-US" altLang="ko-KR" sz="1200" dirty="0">
                <a:latin typeface="+mn-ea"/>
              </a:rPr>
              <a:t>valid</a:t>
            </a:r>
            <a:r>
              <a:rPr lang="ko-KR" altLang="en-US" sz="1200" dirty="0">
                <a:latin typeface="+mn-ea"/>
              </a:rPr>
              <a:t>하면</a:t>
            </a:r>
            <a:r>
              <a:rPr lang="en-US" altLang="ko-KR" sz="1200" dirty="0">
                <a:latin typeface="+mn-ea"/>
              </a:rPr>
              <a:t>(</a:t>
            </a:r>
            <a:r>
              <a:rPr lang="en-US" altLang="ko-KR" sz="1200" dirty="0" err="1">
                <a:latin typeface="+mn-ea"/>
              </a:rPr>
              <a:t>all_valid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수신</a:t>
            </a:r>
            <a:r>
              <a:rPr lang="en-US" altLang="ko-KR" sz="1200" dirty="0">
                <a:latin typeface="+mn-ea"/>
              </a:rPr>
              <a:t>) FPU or ACC</a:t>
            </a:r>
            <a:r>
              <a:rPr lang="ko-KR" altLang="en-US" sz="1200" dirty="0">
                <a:latin typeface="+mn-ea"/>
              </a:rPr>
              <a:t>에 </a:t>
            </a:r>
            <a:r>
              <a:rPr lang="en-US" altLang="ko-KR" sz="1200" dirty="0">
                <a:latin typeface="+mn-ea"/>
              </a:rPr>
              <a:t>start or select </a:t>
            </a:r>
            <a:r>
              <a:rPr lang="ko-KR" altLang="en-US" sz="1200" dirty="0">
                <a:latin typeface="+mn-ea"/>
              </a:rPr>
              <a:t>보냄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>
              <a:lnSpc>
                <a:spcPts val="1600"/>
              </a:lnSpc>
            </a:pPr>
            <a:r>
              <a:rPr lang="en-US" altLang="ko-KR" sz="1200" dirty="0">
                <a:latin typeface="+mn-ea"/>
              </a:rPr>
              <a:t>(ACC</a:t>
            </a:r>
            <a:r>
              <a:rPr lang="ko-KR" altLang="en-US" sz="1200" dirty="0">
                <a:latin typeface="+mn-ea"/>
              </a:rPr>
              <a:t>에 보내는 </a:t>
            </a:r>
            <a:r>
              <a:rPr lang="en-US" altLang="ko-KR" sz="1200" dirty="0">
                <a:latin typeface="+mn-ea"/>
              </a:rPr>
              <a:t>select</a:t>
            </a:r>
            <a:r>
              <a:rPr lang="ko-KR" altLang="en-US" sz="1200" dirty="0">
                <a:latin typeface="+mn-ea"/>
              </a:rPr>
              <a:t>는 어떤 값을 연산할지 지정함과 동시에 연산 시작 신호</a:t>
            </a:r>
            <a:r>
              <a:rPr lang="en-US" altLang="ko-KR" sz="1200" dirty="0">
                <a:latin typeface="+mn-ea"/>
              </a:rPr>
              <a:t>.)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157E7C-6E08-10EA-07F3-697AB4FA5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6237"/>
            <a:ext cx="9144000" cy="259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68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398C9-E425-C146-F896-556032C76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2BE71-89D4-6F2A-A81D-802710CA9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Control state machine</a:t>
            </a:r>
            <a:endParaRPr lang="ko-KR" alt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C0E96-BD49-CF5C-1BCF-B81F5651E0F8}"/>
              </a:ext>
            </a:extLst>
          </p:cNvPr>
          <p:cNvSpPr txBox="1"/>
          <p:nvPr/>
        </p:nvSpPr>
        <p:spPr>
          <a:xfrm>
            <a:off x="136598" y="5247215"/>
            <a:ext cx="7043374" cy="53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+mj-ea"/>
                <a:ea typeface="+mj-ea"/>
              </a:rPr>
              <a:t>Fpu</a:t>
            </a:r>
            <a:r>
              <a:rPr lang="ko-KR" altLang="en-US" sz="1000" dirty="0">
                <a:latin typeface="+mj-ea"/>
                <a:ea typeface="+mj-ea"/>
              </a:rPr>
              <a:t>에서 </a:t>
            </a:r>
            <a:r>
              <a:rPr lang="en-US" altLang="ko-KR" sz="1000" dirty="0">
                <a:latin typeface="+mj-ea"/>
                <a:ea typeface="+mj-ea"/>
              </a:rPr>
              <a:t>9bit done[8:0] </a:t>
            </a:r>
            <a:r>
              <a:rPr lang="ko-KR" altLang="en-US" sz="1000" dirty="0">
                <a:latin typeface="+mj-ea"/>
                <a:ea typeface="+mj-ea"/>
              </a:rPr>
              <a:t>만들고 각 </a:t>
            </a:r>
            <a:r>
              <a:rPr lang="en-US" altLang="ko-KR" sz="1000" dirty="0" err="1">
                <a:latin typeface="+mj-ea"/>
                <a:ea typeface="+mj-ea"/>
              </a:rPr>
              <a:t>fpu</a:t>
            </a:r>
            <a:r>
              <a:rPr lang="ko-KR" altLang="en-US" sz="1000" dirty="0">
                <a:latin typeface="+mj-ea"/>
                <a:ea typeface="+mj-ea"/>
              </a:rPr>
              <a:t>가 연산을 완료할 때 마다 각자 할당된 자리에 </a:t>
            </a:r>
            <a:r>
              <a:rPr lang="en-US" altLang="ko-KR" sz="1000" dirty="0">
                <a:latin typeface="+mj-ea"/>
                <a:ea typeface="+mj-ea"/>
              </a:rPr>
              <a:t>done signal</a:t>
            </a:r>
            <a:r>
              <a:rPr lang="ko-KR" altLang="en-US" sz="1000" dirty="0">
                <a:latin typeface="+mj-ea"/>
                <a:ea typeface="+mj-ea"/>
              </a:rPr>
              <a:t>을 발생</a:t>
            </a:r>
            <a:r>
              <a:rPr lang="en-US" altLang="ko-KR" sz="1000" dirty="0">
                <a:latin typeface="+mj-ea"/>
                <a:ea typeface="+mj-ea"/>
              </a:rPr>
              <a:t>.</a:t>
            </a:r>
          </a:p>
          <a:p>
            <a:pPr>
              <a:lnSpc>
                <a:spcPts val="1800"/>
              </a:lnSpc>
            </a:pPr>
            <a:r>
              <a:rPr lang="en-US" altLang="ko-KR" sz="1000" dirty="0">
                <a:latin typeface="+mj-ea"/>
                <a:ea typeface="+mj-ea"/>
              </a:rPr>
              <a:t>done[8:0] </a:t>
            </a:r>
            <a:r>
              <a:rPr lang="ko-KR" altLang="en-US" sz="1000" dirty="0">
                <a:latin typeface="+mj-ea"/>
                <a:ea typeface="+mj-ea"/>
              </a:rPr>
              <a:t>이 다 차면 </a:t>
            </a:r>
            <a:r>
              <a:rPr lang="en-US" altLang="ko-KR" sz="1000" dirty="0">
                <a:latin typeface="+mj-ea"/>
                <a:ea typeface="+mj-ea"/>
              </a:rPr>
              <a:t>1bit </a:t>
            </a:r>
            <a:r>
              <a:rPr lang="en-US" altLang="ko-KR" sz="1000" dirty="0" err="1">
                <a:latin typeface="+mj-ea"/>
                <a:ea typeface="+mj-ea"/>
              </a:rPr>
              <a:t>fpu_done</a:t>
            </a:r>
            <a:r>
              <a:rPr lang="ko-KR" altLang="en-US" sz="1000" dirty="0">
                <a:latin typeface="+mj-ea"/>
                <a:ea typeface="+mj-ea"/>
              </a:rPr>
              <a:t>을 </a:t>
            </a:r>
            <a:r>
              <a:rPr lang="en-US" altLang="ko-KR" sz="1000" dirty="0">
                <a:latin typeface="+mj-ea"/>
                <a:ea typeface="+mj-ea"/>
              </a:rPr>
              <a:t>control</a:t>
            </a:r>
            <a:r>
              <a:rPr lang="ko-KR" altLang="en-US" sz="1000" dirty="0">
                <a:latin typeface="+mj-ea"/>
                <a:ea typeface="+mj-ea"/>
              </a:rPr>
              <a:t>로 보냄</a:t>
            </a:r>
            <a:r>
              <a:rPr lang="en-US" altLang="ko-KR" sz="1000" dirty="0">
                <a:latin typeface="+mj-ea"/>
                <a:ea typeface="+mj-e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B89141-64D5-8F96-AF3B-8FFD17E08C12}"/>
              </a:ext>
            </a:extLst>
          </p:cNvPr>
          <p:cNvSpPr txBox="1"/>
          <p:nvPr/>
        </p:nvSpPr>
        <p:spPr>
          <a:xfrm>
            <a:off x="136598" y="5782618"/>
            <a:ext cx="7043374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+mj-ea"/>
                <a:ea typeface="+mj-ea"/>
              </a:rPr>
              <a:t>ACC</a:t>
            </a:r>
            <a:r>
              <a:rPr lang="ko-KR" altLang="en-US" sz="1000" dirty="0">
                <a:latin typeface="+mj-ea"/>
                <a:ea typeface="+mj-ea"/>
              </a:rPr>
              <a:t>에서는 순차적으로 연산을 </a:t>
            </a:r>
            <a:r>
              <a:rPr lang="ko-KR" altLang="en-US" sz="1000" dirty="0" err="1">
                <a:latin typeface="+mj-ea"/>
                <a:ea typeface="+mj-ea"/>
              </a:rPr>
              <a:t>진행해야하기</a:t>
            </a:r>
            <a:r>
              <a:rPr lang="ko-KR" altLang="en-US" sz="1000" dirty="0">
                <a:latin typeface="+mj-ea"/>
                <a:ea typeface="+mj-ea"/>
              </a:rPr>
              <a:t> 때문에 </a:t>
            </a:r>
            <a:r>
              <a:rPr lang="ko-KR" altLang="en-US" sz="1000" dirty="0" err="1">
                <a:latin typeface="+mj-ea"/>
                <a:ea typeface="+mj-ea"/>
              </a:rPr>
              <a:t>카운팅을</a:t>
            </a:r>
            <a:r>
              <a:rPr lang="ko-KR" altLang="en-US" sz="1000" dirty="0">
                <a:latin typeface="+mj-ea"/>
                <a:ea typeface="+mj-ea"/>
              </a:rPr>
              <a:t> 통해 </a:t>
            </a:r>
            <a:r>
              <a:rPr lang="en-US" altLang="ko-KR" sz="1000" dirty="0">
                <a:latin typeface="+mj-ea"/>
                <a:ea typeface="+mj-ea"/>
              </a:rPr>
              <a:t>0~8</a:t>
            </a:r>
            <a:r>
              <a:rPr lang="ko-KR" altLang="en-US" sz="1000" dirty="0">
                <a:latin typeface="+mj-ea"/>
                <a:ea typeface="+mj-ea"/>
              </a:rPr>
              <a:t> </a:t>
            </a:r>
            <a:r>
              <a:rPr lang="en-US" altLang="ko-KR" sz="1000" dirty="0">
                <a:latin typeface="+mj-ea"/>
                <a:ea typeface="+mj-ea"/>
              </a:rPr>
              <a:t>select </a:t>
            </a:r>
            <a:r>
              <a:rPr lang="ko-KR" altLang="en-US" sz="1000" dirty="0">
                <a:latin typeface="+mj-ea"/>
                <a:ea typeface="+mj-ea"/>
              </a:rPr>
              <a:t>생성</a:t>
            </a:r>
            <a:r>
              <a:rPr lang="en-US" altLang="ko-KR" sz="1000" dirty="0">
                <a:latin typeface="+mj-ea"/>
                <a:ea typeface="+mj-ea"/>
              </a:rPr>
              <a:t> </a:t>
            </a:r>
            <a:r>
              <a:rPr lang="ko-KR" altLang="en-US" sz="1000" dirty="0">
                <a:latin typeface="+mj-ea"/>
                <a:ea typeface="+mj-ea"/>
              </a:rPr>
              <a:t>후 </a:t>
            </a:r>
            <a:r>
              <a:rPr lang="en-US" altLang="ko-KR" sz="1000" dirty="0">
                <a:latin typeface="+mj-ea"/>
                <a:ea typeface="+mj-ea"/>
              </a:rPr>
              <a:t>ACC</a:t>
            </a:r>
            <a:r>
              <a:rPr lang="ko-KR" altLang="en-US" sz="1000" dirty="0">
                <a:latin typeface="+mj-ea"/>
                <a:ea typeface="+mj-ea"/>
              </a:rPr>
              <a:t>로 전송</a:t>
            </a:r>
            <a:r>
              <a:rPr lang="en-US" altLang="ko-KR" sz="1000" dirty="0">
                <a:latin typeface="+mj-ea"/>
                <a:ea typeface="+mj-ea"/>
              </a:rPr>
              <a:t>.</a:t>
            </a:r>
          </a:p>
          <a:p>
            <a:pPr>
              <a:lnSpc>
                <a:spcPts val="1800"/>
              </a:lnSpc>
            </a:pPr>
            <a:r>
              <a:rPr lang="ko-KR" altLang="en-US" sz="1000" dirty="0">
                <a:latin typeface="+mj-ea"/>
                <a:ea typeface="+mj-ea"/>
              </a:rPr>
              <a:t>각 </a:t>
            </a:r>
            <a:r>
              <a:rPr lang="en-US" altLang="ko-KR" sz="1000" dirty="0">
                <a:latin typeface="+mj-ea"/>
                <a:ea typeface="+mj-ea"/>
              </a:rPr>
              <a:t>ACC </a:t>
            </a:r>
            <a:r>
              <a:rPr lang="ko-KR" altLang="en-US" sz="1000" dirty="0">
                <a:latin typeface="+mj-ea"/>
                <a:ea typeface="+mj-ea"/>
              </a:rPr>
              <a:t>연산 마다 </a:t>
            </a:r>
            <a:r>
              <a:rPr lang="en-US" altLang="ko-KR" sz="1000" dirty="0">
                <a:latin typeface="+mj-ea"/>
                <a:ea typeface="+mj-ea"/>
              </a:rPr>
              <a:t>done</a:t>
            </a:r>
            <a:r>
              <a:rPr lang="ko-KR" altLang="en-US" sz="1000" dirty="0">
                <a:latin typeface="+mj-ea"/>
                <a:ea typeface="+mj-ea"/>
              </a:rPr>
              <a:t>을 받아 </a:t>
            </a:r>
            <a:r>
              <a:rPr lang="en-US" altLang="ko-KR" sz="1000" dirty="0">
                <a:latin typeface="+mj-ea"/>
                <a:ea typeface="+mj-ea"/>
              </a:rPr>
              <a:t>count up.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B5727D3-2F28-B242-961E-91A47191E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63" y="779933"/>
            <a:ext cx="7250806" cy="447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824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">
          <a:noFill/>
        </a:ln>
      </a:spPr>
      <a:bodyPr rtlCol="0" anchor="ctr"/>
      <a:lstStyle>
        <a:defPPr algn="l">
          <a:defRPr sz="1200" dirty="0" smtClean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269102</TotalTime>
  <Words>422</Words>
  <Application>Microsoft Office PowerPoint</Application>
  <PresentationFormat>화면 슬라이드 쇼(4:3)</PresentationFormat>
  <Paragraphs>44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6" baseType="lpstr">
      <vt:lpstr>경기천년제목 Bold</vt:lpstr>
      <vt:lpstr>공체 Bold</vt:lpstr>
      <vt:lpstr>나눔스퀘어_ac</vt:lpstr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HW Architecture</vt:lpstr>
      <vt:lpstr>Module 구성</vt:lpstr>
      <vt:lpstr>Data/control signal flow</vt:lpstr>
      <vt:lpstr>Control state machine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2019110611@office.kw.ac.kr</dc:creator>
  <cp:lastModifiedBy>노지우</cp:lastModifiedBy>
  <cp:revision>1350</cp:revision>
  <cp:lastPrinted>2023-05-25T10:26:33Z</cp:lastPrinted>
  <dcterms:created xsi:type="dcterms:W3CDTF">2019-11-22T03:47:16Z</dcterms:created>
  <dcterms:modified xsi:type="dcterms:W3CDTF">2026-05-19T12:06:38Z</dcterms:modified>
</cp:coreProperties>
</file>